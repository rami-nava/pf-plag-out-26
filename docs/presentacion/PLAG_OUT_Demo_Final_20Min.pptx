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 a todos. En la última campaña perdimos más de 2.000 millones de dólares en maíz por la chicharrita. El sistema tradicional llega tarde: cuando se ve la hoja comida, pulverizar cuesta el doble y rinde 10-20%. Creamos PLAG-OUT para anticipar cuándo nace la plaga antes de que empiece a comer.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Arrancamos creando una cuenta de cero. Registro rápido pensado para el campo. Ni bien ingresa, el usuario dispone de dos niveles de asistencia: la Guía Rápida de cinco pasos para quien está arriba de la camioneta, y la Guía Completa desde Ajustes para profundizar en GDD y Biofix.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Configuramos los activos productivos: creamos un Terreno con delimitación GPS y hectáreas. ¿Por qué el GPS exacto? Porque nos conectamos con la estación meteorológica local. Asociamos la Soja con su fecha de siembra y el Monitoreo de Oruga. El ciclo nace 'Esperando Biofix' y todo funciona Offline-First con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Momento clave: el agrónomo camina el lote y genera un reporte. Pero acá interviene nuestro modelo de Machine Learning: analiza 60 días de clima y predice la ventana de biofix con hasta 14 días de anticipación. El usuario valida en el lote, arranca el conteo térmico y se dispara la alerta comunitaria.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Cambiamos a la segunda cuenta: un productor vecino en la misma región. En este instante su celular recibe una notificación push: 'Alerta Comunitaria: Plaga reportada a 8.3 km'. Esto es la Defensa en Anillo de 20 km. Y respetamos estrictamente la Ley 25.326: el reporte es 100% anónimo.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Entramos al detalle de monitoreo: acá vemos los Grados Día de Desarrollo. La plaga es ectotérmica; para Anticarsia la temperatura base es 10°C según el INTA. La app acumula calor. Y con el Job Diario a las 03:00 AM el backend actualiza todo y notifica si se cruzó el umbral.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Pasamos al Mapa Georreferenciado sobre OpenStreetMap. Vemos clusters espaciales: un foco rojo con 11 reportes activos en zona núcleo y la casa que marca nuestro lote. Podemos pasar de la vista de puntos al mapa de densidad para entender el vector de avance de la plaga.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Llegamos a los Tableros de Control. En Lotes, semáforo donut y ranking con días de siembra. En Control, la Curva de Eficacia: pulverizar en huevo tiene 10-20% de eficacia, en ventana útil L1-L3 tiene 90%. El cartel 'INCUBACIÓN - No pulverizar aún' ahorra 25 USD/ha. Y en Campañas, rotación IRAC.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Perfil y Ajustes gestionamos notificaciones nativas con FCM, permisos de ubicación GPS y el switch de Consentimiento ML. El productor decide con total transparencia si sus reportes anónimos pueden usarse para reentrenar modelos. Soberanía total del dato.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Tercera perspectiva: Panel de Administrador. Mostramos cómo escala la plataforma. En PLAG-OUT damos de alta una nueva plaga o cultivo en segundos: ingresamos nombre científico, temperatura base Tb, constantes térmicas K y umbrales. Se propaga al instante sin desplegar nueva APK.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Muy brevemente, la gestión de usuarios desde Admin: listado de usuarios, asignación de roles jerárquicos (productor, agrónomo certificador, admin) y control de cuentas activas o suspendidas. Soporte institucional para cooperativas y pools de siembra.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Métricas globales de administración: dashboards de analítica regional. Acá la información deja de ser de un lote y se vuelve inteligencia epidemiológica: hectáreas monitoreadas a nivel país, plagas con mayor velocidad de propagación. Vital para cooperativas y entidades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Estrategia multiplataforma: Mobile vs Web. Mobile en Android nativo con Kotlin es la herramienta de batalla en la camioneta: botones grandes, GPS, cámara y 100% offline con Room. Web Desktop es la herramienta de oficina para auditoría y exportación de reportes BPA.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cerrar: PLAG-OUT anticipa donde otros solo reaccionan post-daño. Ahorra 25% en costos químicos, da 7 a 14 días de anticipación y digitaliza el campo con ciencia argentina. Muchísimas gracias y el equipo queda a completa disposición de la mesa evaluadora para responder las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insectos son ectotérmicos: no regulan su temperatura. La fórmula implementada es el promedio simple con corte. Tb es la temperatura base bajo la cual el desarrollo se detiene; Tcorte es el umbral superior donde se estabiliza. Todos los valores están calibrados con ensayos del INTA.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¿Por qué la ventana es tan estrecha? Por la cutícula del insecto. En huevo, el corion es impermeable a insecticidas de contacto: eficacia 10-20%. En L1 a L3 la cutícula es permeable: 90% de mortandad con dosis bajas. En L4 a L6 la oruga se esclerotiza y la eficacia cae al 20%.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técnica: Clean Architecture y MVVM en Kotlin con Jetpack Compose. Para tolerar la falta de conectividad usamos Room SQLite con WorkManager y reintentos exponenciales. En backend, FastAPI con PostgreSQL y PostGIS ST_DWithin con índices R-Tree.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¿Cómo funciona el modelo de ML para el Biofix? Toma como features series térmicas de 60 días, anomalías de mínimas invernales, precipitaciones y fotoperíodo. Usamos un modelo XGBoost entrenado con datos históricos del INTA, con AUC-ROC &gt; 0.88 y aprendizaje activo.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¿Cómo escala el recálculo diario si hay miles de lotes? A las 03:00 AM un scheduler batch en el backend ejecuta consultas concurrentes asíncronas con httpx. Agrupa coordenadas para no repetir peticiones a Open-Meteo y SMN. Computa GDD y despacha notificaciones FCM.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privacidad en el agro es sagrada: nadie quiere que la competencia sepa qué plaga tiene en su campo. Cumplimos con la Ley 25.326. Implementamos un buffer espacial difuso: la coordenada exacta queda en la cuenta privada del usuario; a la red solo va un punto desplazado.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5CE698"/>
                </a:solidFill>
              </a:defRPr>
            </a:pPr>
            <a:r>
              <a:t>PLAG-OUT</a:t>
            </a:r>
          </a:p>
          <a:p>
            <a:pPr algn="ctr">
              <a:defRPr sz="2000" b="1">
                <a:solidFill>
                  <a:srgbClr val="F3F8F5"/>
                </a:solidFill>
              </a:defRPr>
            </a:pPr>
            <a:r>
              <a:t>Monitoreo inteligente de plagas sincronizando biología, clima y comunidad</a:t>
            </a:r>
          </a:p>
          <a:p>
            <a:pPr algn="ctr">
              <a:defRPr sz="1300">
                <a:solidFill>
                  <a:srgbClr val="9EBAAB"/>
                </a:solidFill>
              </a:defRPr>
            </a:pPr>
            <a:r>
              <a:t>"La inteligencia artificial acota el riesgo; el campo confirma."</a:t>
            </a:r>
            <a:br/>
            <a:r>
              <a:t>Trabajo Final de Grado • UTN FRBA 2026 | Demo Oficial (20 Minutos)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3291840" cy="2286000"/>
          </a:xfrm>
          <a:prstGeom prst="roundRect">
            <a:avLst/>
          </a:prstGeom>
          <a:solidFill>
            <a:srgbClr val="14261D"/>
          </a:solidFill>
          <a:ln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85D5D"/>
                </a:solidFill>
              </a:defRPr>
            </a:pPr>
            <a:r>
              <a:t>-USD 2.000M</a:t>
            </a:r>
          </a:p>
          <a:p>
            <a:pPr algn="ctr">
              <a:defRPr sz="1400" b="1">
                <a:solidFill>
                  <a:srgbClr val="F3F8F5"/>
                </a:solidFill>
              </a:defRPr>
            </a:pPr>
            <a:r>
              <a:t>Pérdidas Maíz</a:t>
            </a:r>
          </a:p>
          <a:p>
            <a:pPr algn="ctr">
              <a:defRPr sz="1100">
                <a:solidFill>
                  <a:srgbClr val="9EBAAB"/>
                </a:solidFill>
              </a:defRPr>
            </a:pPr>
            <a:r>
              <a:t>Impacto devastador por Dalbulus maidis en la última campaña.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291840"/>
            <a:ext cx="3291840" cy="2286000"/>
          </a:xfrm>
          <a:prstGeom prst="roundRect">
            <a:avLst/>
          </a:prstGeom>
          <a:solidFill>
            <a:srgbClr val="14261D"/>
          </a:solidFill>
          <a:ln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2B23E"/>
                </a:solidFill>
              </a:defRPr>
            </a:pPr>
            <a:r>
              <a:t>El Problema</a:t>
            </a:r>
          </a:p>
          <a:p>
            <a:pPr algn="ctr">
              <a:defRPr sz="1400" b="1">
                <a:solidFill>
                  <a:srgbClr val="F3F8F5"/>
                </a:solidFill>
              </a:defRPr>
            </a:pPr>
            <a:r>
              <a:t>Llegar Tarde</a:t>
            </a:r>
          </a:p>
          <a:p>
            <a:pPr algn="ctr">
              <a:defRPr sz="1100">
                <a:solidFill>
                  <a:srgbClr val="9EBAAB"/>
                </a:solidFill>
              </a:defRPr>
            </a:pPr>
            <a:r>
              <a:t>Monitoreo reactivo: cuando la hoja está comida, pulverizar rinde 10-20%.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291840"/>
            <a:ext cx="3291840" cy="2286000"/>
          </a:xfrm>
          <a:prstGeom prst="roundRect">
            <a:avLst/>
          </a:prstGeom>
          <a:solidFill>
            <a:srgbClr val="14261D"/>
          </a:solidFill>
          <a:ln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5CE698"/>
                </a:solidFill>
              </a:defRPr>
            </a:pPr>
            <a:r>
              <a:t>La Solución</a:t>
            </a:r>
          </a:p>
          <a:p>
            <a:pPr algn="ctr">
              <a:defRPr sz="1400" b="1">
                <a:solidFill>
                  <a:srgbClr val="F3F8F5"/>
                </a:solidFill>
              </a:defRPr>
            </a:pPr>
            <a:r>
              <a:t>Anticipación</a:t>
            </a:r>
          </a:p>
          <a:p>
            <a:pPr algn="ctr">
              <a:defRPr sz="1100">
                <a:solidFill>
                  <a:srgbClr val="9EBAAB"/>
                </a:solidFill>
              </a:defRPr>
            </a:pPr>
            <a:r>
              <a:t>Predecir eclosión por Grados Día (GDD), IA y red comunitaria.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1 • Alta de Cero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02:00 - 03:30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Creación de Cuenta y Onboarding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gestion_terre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Registro ágil con doble nivel de guía: rápida para campo y completa para ciencia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📘 Guía Rápida (5 Pasos) vs Guía Completa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Diseño adaptado al productor agropecuario: dos niveles de soporte para resolver rápido a campo o profundizar en la ciencia.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Guía Rápida (AppBar ?): 5 pasos operativos: Cargá terrenos ➔ Sumá cultivos ➔ Monitoreá ➔ Confirmá biofix ➔ Reportá.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Guía Completa (Ajustes): Explicación conceptual con rigor: qué es GDD, qué es Biofix, cómo se calcula el IRA y niveles del semáforo.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Registro Seguro: Autenticación rápida con validación y tokens JWT.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Enfoque Práctico: Lenguaje agronómico directo, sin tecnicismos informáticos vacíos.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Arrancamos creando una cuenta de cero. Registro rápido pensado para el campo. Ni bien ingresa, el usuario dispone de dos niveles de asistenc...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1 • Configuración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03:30 - 05:30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Terrenos, Cultivos, Monitoreos y Ciclos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plantaciones_cul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Estructuración territorial con vínculo bioclimático y arquitectura Offline-First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🌱 La Jerarquía Productiva en Campo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Terreno (Lote GPS + Ha) ➔ Plantación (Cultivo + Fecha Siembra) ➔ Monitoreo (Plaga + Umbral) ➔ Ciclos Térmicos.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Vínculo Bioclimático: Coordenadas GPS exactas para conectar con estaciones meteorológicas locales y microclima.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Fecha de Siembra: Cálculo de días transcurridos para correlacionar fenología del cultivo con estadios de plaga.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Umbral Personalizado: El productor define a qué porcentaje de riesgo térmico desea recibir alertas.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100% Offline-First: Persistencia local con Room SQLite. Carga sin señal y sincroniza al volver a tener 4G.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Configuramos los activos productivos: creamos un Terreno con delimitación GPS y hectáreas. ¿Por qué el GPS exacto? Porque nos conectamos con...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1 • Scouting &amp;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05:30 - 07:30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Reporte a Campo &amp; Machine Learning Biofix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nuevo_rep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Digitalización del scouting y predicción inteligente del punto de partida biológico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🤖 El Rol del Modelo de Machine Learning en el Biofix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Analiza 60 días de temperaturas históricas, anomalías invernales y fotoperíodo para predecir la ventana de biofix hasta 14 días antes.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Scouting Digital: Registro de plaga, estadio biológico (ninfa/adulto), severidad, fotos georreferenciadas y notas.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Bucle de Feedback Activo: La IA sugiere; el agrónomo confirma o refina la fecha en el lote. La retroalimentación recalibra el modelo.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Activación Térmica: Al confirmar el biofix, se inicia la acumulación diaria de GDD hacia el umbral de eclosión.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Disparo Comunitario: El reporte confirmado se propaga en la red para advertir a los vecinos del anillo.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Momento clave: el agrónomo camina el lote y genera un reporte. Pero acá interviene nuestro modelo de Machine Learning: analiza 60 días de cl...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2 • Campo en Marcha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07:30 - 09:00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Alerta Comunitaria en Tiempo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alertas_comunita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Defensa en anillo de 20 km y efecto de red colaborativo entre vecinos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🛡️ Principio de Defensa en Anillo (20 km)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Los insectos no respetan alambrados. Una detección a 8.3 km es el aviso anticipado de que la presión biológica zonal creció.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Notificación Push Inmediata: Despacho directo por Firebase Cloud Messaging ni bien el vecino confirma el avistamiento.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Efecto de Red: +Productores monitoreando ➔ +Datos georreferenciados ➔ Alertas más precisas para toda la cuenca.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Ley 25.326 de Protección: Anonimización estricta: se informa la distancia radial difusa, protegiendo el catastro del vecino.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Coordinación Zonal: Permite alertar a contratistas y acopios antes de que la plaga cruce el alambrado propio.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Cambiamos a la segunda cuenta: un productor vecino en la misma región. En este instante su celular recibe una notificación push: 'Alerta Com...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2 • Fisiología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09:00 - 11:00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Valores Avanzados de GDD &amp; Motor Diario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plantaciones_cul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El reloj biológico térmico lote por lote y el pipeline batch automatizado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🌡️ La Ecuación Fisiológica de Grados Día (GDD)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GDD = ((Tmax + Tmin) / 2) - Tb | Calibrada para Argentina: Tb = 10°C (Anticarsia/Dalbulus), eclosión a 420 GDD.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Job Nocturno en Backend: Batch autónomo que ejecuta a las 03:00 AM: consulta Open-Meteo y SMN por coordenadas de cada lote.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Integral Térmica Diaria: Suma los GDD acumulados y recalcula el Índice de Riesgo Ambiental (IRA) de cada monitoreo.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Alertas Tempranas: Si el lote cruza el umbral definido por el agrónomo, despacha notificación push a primera hora.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Calibración INTA: Modelos ontogénicos validados con estaciones experimentales agropecuarias nacionales.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Entramos al detalle de monitoreo: acá vemos los Grados Día de Desarrollo. La plaga es ectotérmica; para Anticarsia la temperatura base es 10...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2 • Cartografía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11:00 - 12:30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Mapa de Presión por Zona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mapa_georreferenci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Cartografía espacial con clusterización de focos y mapa de calor de densidad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🗺️ Detección de Focos de Calor Epidemiológicos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Clusterización nativa sobre OpenStreetMap (OSMDroid): agrupamiento dinámico que revela focos calientes en la cuenca agrícola.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Cluster Zona Núcleo: Identificación instantánea de 11 reportes activos agrupados a corta distancia del establecimiento propio.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Ubicación de Lote Propio: Marcador de referencia territorial para medir el gradiente de proximidad del frente de plaga.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Puntos vs Mapa de Calor: Conmutación en un toque entre marcadores individuales de scouting y mapa continuo de densidad.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Vector de Avance: Correlación visual entre focos comunitarios y condiciones meteorológicas de dispersión.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Pasamos al Mapa Georreferenciado sobre OpenStreetMap. Vemos clusters espaciales: un foco rojo con 11 reportes activos en zona núcleo y la ca...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2 • Analítica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12:30 - 15:00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Tableros de Control Ejecutivos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tablero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Semáforo de superficie, la Curva de Eficacia fitosanitaria y memoria interanual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📉 "Errar la Ventana se Paga Caro" • Curva de Eficacia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Temprana (Huevo): 10-20% de eficacia (plata tirada) ➔ Ventana Útil (L1-L3): &gt;90% de eficacia ➔ Tardía: 20-30% de eficacia.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Solapa Lotes (Productor): Semáforo Donut (58 ha), ranking de criticidad y días desde siembra (ej. Soja 87 días).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Badge Disuasorio: Cartel 'INCUBACIÓN - No pulverizar aún': evita aplicaciones a destiempo que destruyen margen.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Solapa Campañas (Histórico): Auditoría interanual 2026/27: Oruga predominante (50%). Planificación de compras tempranas con descuento.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Rotación IRAC: Datos objetivos para alternar modos de acción químicos y evitar la resistencia biológica en el lote.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Llegamos a los Tableros de Control. En Lotes, semáforo donut y ranking con días de siembra. En Control, la Curva de Eficacia: pulverizar en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2 • Gobernanza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15:00 - 16:00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Perfil, Permisos y Consentimiento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gestion_terre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Control ético de datos, soberanía del productor y permisos de sistema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🛡️ Transparencia y Consentimiento Informado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El productor es el único dueño de su información agronómica. No entrenamos algoritmos a sus espaldas.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Control de Notificaciones: Switch nativo vinculado a Firebase Cloud Messaging para registrar o dar de baja el token FCM.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Permiso de Ubicación: Monitoreo continuo de permisos de GPS en Android con revalidación y acceso directo a ajustes.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Switch Consentimiento ML: Opt-in/Opt-out granular: el usuario autoriza o revoca el uso de sus reportes para calibrar modelos de IA.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Seguridad de Sesión: Tokens JWT con cierre de sesión seguro y protección contra pérdida de credenciales.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En Perfil y Ajustes gestionamos notificaciones nativas con FCM, permisos de ubicación GPS y el switch de Consentimiento ML. El productor dec...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3 • Admin &amp; Escala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16:00 - 17:00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Escalabilidad del Catálogo Biológico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tablero_l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Alta dinámica de nuevas especies y cultivos sin dependencias de desarrollo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🧬 Extensibilidad Modular sin Despliegue de Código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El catálogo biológico no está 'hardcodeado'. Nuevas plagas o biotipos resistentes se configuran en caliente desde la base central.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Parámetros Ontogénicos: Configuración de Temperatura Base (Tb), umbral superior (Tcorte) y constantes térmicas (K en GDD).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Asociación con Cultivos: Vínculo con hospederos: Soja, Maíz, Sorgo, Alfalfa, Trigo, Girasol y pasturas consociadas.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Propagación Instantánea: Al guardar, el nuevo modelo biológico queda disponible de inmediato para todos los productores.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Archivo y Versionado: Posibilidad de archivar plagas estacionales o ajustar umbrales ante nuevas recomendaciones de INTA.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Tercera perspectiva: Panel de Administrador. Mostramos cómo escala la plataforma. En PLAG-OUT damos de alta una nueva plaga o cultivo en seg...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3 • Usuarios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17:00 - 17:45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Gestión de Usuarios y Gobernanza Operativa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tablero_campa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Control de accesos basado en roles (RBAC) y auditoría institucional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👥 Administración Institucional y Auditoría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Estructura pensada para cooperativas, acopios y pools de siembra con múltiples niveles de operadores.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Roles Jerárquicos: Productor estándar (gestión de campo), Ingeniero Agrónomo (validación de biofix) y Administrador.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Estados de Cuenta: Activación, suspensión preventiva y control de acceso mediante tokens revocables.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Soporte Multiestablecimiento: Habilitación de técnicos para monitorear múltiples campos bajo un mismo esquema de auditoría.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Trazabilidad de Acciones: Registro auditado de quién cargó cada reporte y quién confirmó la eclosión a campo.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Muy brevemente, la gestión de usuarios desde Admin: listado de usuarios, asignación de roles jerárquicos (productor, agrónomo certificador,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3 • Analítica Global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17:45 - 18:45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Dashboards Globales de Administración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tablero_l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Inteligencia epidemiológica agregada para cooperativas y organismos fitosanitarios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📈 De la Parcela Individual a la Epidemiología Regional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Visión macro que permite detectar tendencias, brotes incipientes y velocidad de dispersión geográfica de plagas.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Superficie Bajo Vigilancia: Consolidado en tiempo real de hectáreas activas por región agrícola (NOA, NEA, Zona Núcleo).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Velocidad de Propagación: Métrica de dispersión basada en reportes comunitarios y anomalías térmicas recientes.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Cultivos más Afectados: Distribución de presión sanitaria para planificar abastecimiento temprano de insumos.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Alianzas Estratégicas: Información de alto valor para articular alertas tempranas con INTA, SENASA y mesas técnicas.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Métricas globales de administración: dashboards de analítica regional. Acá la información deja de ser de un lote y se vuelve inteligencia ep...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Perspectiva 3 • Arquitectura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18:45 - 19:30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Ecosistema Multiplataforma: Mobile vs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mapa_georreferenci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Sinergia entre el trabajo rústico a campo y el análisis gerencial en oficina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🚜 Complementariedad Operativa según el Escenario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Dos clientes optimizados para su entorno de uso que consumen la misma API REST asíncrona.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Android Nativo (Campo): Uso en camioneta bajo el sol, botones amplios, cámara rápida, GPS nativo y tolerancia offline 100% con Room.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Portal Web (Oficina): Pantalla grande para visualización cartográfica, gestión masiva de lotes, auditoría y exportación BPA.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Backend Unificado: FastAPI asíncrono en Python 3.11 con endpoints RESTful unificados y esquemas Pydantic compartidos.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PostGIS Central: PostgreSQL espacial con índices R-Tree para resolver consultas de proximidad instantáneas en ambos clientes.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Estrategia multiplataforma: Mobile vs Web. Mobile en Android nativo con Kotlin es la herramienta de batalla en la camioneta: botones grandes...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🏆 Retorno &amp; Diferenciación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F2B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2B23E"/>
                </a:solidFill>
              </a:defRPr>
            </a:pPr>
            <a:r>
              <a:t>⏱️ 19:30 - 20:00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PLAG-OUT: Nosotros Anticipamos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14261D"/>
          </a:solidFill>
          <a:ln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2B23E"/>
                </a:solidFill>
              </a:defRPr>
            </a:pPr>
            <a:r>
              <a:t>-25%</a:t>
            </a:r>
          </a:p>
          <a:p>
            <a:pPr algn="ctr">
              <a:defRPr sz="1300" b="1">
                <a:solidFill>
                  <a:srgbClr val="F3F8F5"/>
                </a:solidFill>
              </a:defRPr>
            </a:pPr>
            <a:r>
              <a:t>Costos Fitosanitarios</a:t>
            </a:r>
          </a:p>
          <a:p>
            <a:pPr algn="ctr">
              <a:defRPr sz="1000">
                <a:solidFill>
                  <a:srgbClr val="9EBAAB"/>
                </a:solidFill>
              </a:defRPr>
            </a:pPr>
            <a:r>
              <a:t>Al eliminar aplicaciones fuera de ventana en estadios invulnerables.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383280" cy="2011680"/>
          </a:xfrm>
          <a:prstGeom prst="roundRect">
            <a:avLst/>
          </a:prstGeom>
          <a:solidFill>
            <a:srgbClr val="14261D"/>
          </a:solidFill>
          <a:ln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5CE698"/>
                </a:solidFill>
              </a:defRPr>
            </a:pPr>
            <a:r>
              <a:t>+7 a 14 Días</a:t>
            </a:r>
          </a:p>
          <a:p>
            <a:pPr algn="ctr">
              <a:defRPr sz="1300" b="1">
                <a:solidFill>
                  <a:srgbClr val="F3F8F5"/>
                </a:solidFill>
              </a:defRPr>
            </a:pPr>
            <a:r>
              <a:t>Anticipación Bioclimática</a:t>
            </a:r>
          </a:p>
          <a:p>
            <a:pPr algn="ctr">
              <a:defRPr sz="1000">
                <a:solidFill>
                  <a:srgbClr val="9EBAAB"/>
                </a:solidFill>
              </a:defRPr>
            </a:pPr>
            <a:r>
              <a:t>Para contratar pulverizadoras y coordinar insumos sin urgencias.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383280" cy="2011680"/>
          </a:xfrm>
          <a:prstGeom prst="roundRect">
            <a:avLst/>
          </a:prstGeom>
          <a:solidFill>
            <a:srgbClr val="14261D"/>
          </a:solidFill>
          <a:ln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5CADE6"/>
                </a:solidFill>
              </a:defRPr>
            </a:pPr>
            <a:r>
              <a:t>100%</a:t>
            </a:r>
          </a:p>
          <a:p>
            <a:pPr algn="ctr">
              <a:defRPr sz="1300" b="1">
                <a:solidFill>
                  <a:srgbClr val="F3F8F5"/>
                </a:solidFill>
              </a:defRPr>
            </a:pPr>
            <a:r>
              <a:t>Registro Trazable</a:t>
            </a:r>
          </a:p>
          <a:p>
            <a:pPr algn="ctr">
              <a:defRPr sz="1000">
                <a:solidFill>
                  <a:srgbClr val="9EBAAB"/>
                </a:solidFill>
              </a:defRPr>
            </a:pPr>
            <a:r>
              <a:t>Digitalización auditable para certificar Buenas Prácticas Agrícolas.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07040" cy="2560320"/>
          </a:xfrm>
          <a:prstGeom prst="roundRect">
            <a:avLst/>
          </a:prstGeom>
          <a:solidFill>
            <a:srgbClr val="14261D"/>
          </a:solidFill>
          <a:ln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2B23E"/>
                </a:solidFill>
              </a:defRPr>
            </a:pPr>
            <a:r>
              <a:t>🎯 DIFERENCIACIÓN FRENTE AL MERCADO (xarvio, Auravant, FieldView):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• Detección Predictiva: Calculamos el estadio biológico por GDD antes de que el satélite vea la hoja comida.</a:t>
            </a:r>
            <a:br/>
            <a:r>
              <a:t>• Calibración Nacional: Modelos térmicos basados en ensayos del INTA y universidades argentinas.</a:t>
            </a:r>
            <a:br/>
            <a:r>
              <a:t>• Red Colaborativa: Monitoreo comunitario en anillo de 20 km anonimizado según Ley 25.326.</a:t>
            </a:r>
            <a:br/>
            <a:br/>
            <a:r>
              <a:t>¡MUCHAS GRACIAS! Abrimos el espacio para preguntas de la mesa evaluadora.</a:t>
            </a:r>
            <a:br/>
            <a:r>
              <a:t>📚 Apéndice de Respaldo disponible a continuación: Fórmulas GDD, Modelos Plagas, Arquitectura, ML, Batch y Privacidad.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🧬 Apéndice B1 • Biológico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⏱️ Apéndice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Dinámica y Fórmulas de Grados Día (GDD)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plantaciones_cul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Fundamentos matemáticos y biofísicos de la acumulación térmica en artrópodos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📐 Naturaleza Poiquilotérmica de los Insectos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Ecuación: GDD = max(0, (min(Tmax, Tcorte) + max(Tmin, Tb))/2 - Tb). La velocidad ontogénica depende del calor acumulado sobre Tb.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Temperatura Base (Tb): Umbral térmico inferior por debajo del cual el desarrollo fisiológico se detiene por completo (diapausa).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Integral Térmica (K): Cantidad fija de calor fisiológico requerida: K = Σ GDD para completar la fase de huevo a adulto.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Desvíos Térmicos Invernales: Las anomalías cálidas de invierno aceleran la salida de diapausa, adelantando la primera generación.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Ground Truth INTA: Validación empírica con estaciones experimentales agropecuarias de Pergamino y Manfredi.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Los insectos son ectotérmicos: no regulan su temperatura. La fórmula implementada es el promedio simple con corte. Tb es la temperatura base...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🧬 Apéndice B2 • Biológico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⏱️ Apéndice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Modelos Fenológicos y Ventanas de Eficacia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tablero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Biofísica de la susceptibilidad ontogénica y reducción del impacto químico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🎯 Por qué Falla el Control Fuera de la Ventana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En huevo o adulto se desperdicia el 80% del fitosanitario. Solo en estadios larvales L1-L3 se logra 90-95% de mortandad con dosis bajas.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Huevo (Incubación): Corion impermeable a insecticidas de contacto. Aplicar acá destruye parasitoides benéficos y no mata la plaga.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Larva Chica (L1 - L3): Cutícula permeable, alimentación foliar voraz y máxima susceptibilidad a dosis reducidas de IGR o Bt.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Larva Grande / Adulto: Ingreso en cogollo o vainas, cutícula endurecida y detoxificación enzimática activa. Daño ya producido.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Etapas Críticas: Vincular eclosión con V1-V6 en maíz o R1-R5 en soja evita la pérdida irreversible de componentes del rinde.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¿Por qué la ventana es tan estrecha? Por la cutícula del insecto. En huevo, el corion es impermeable a insecticidas de contacto: eficacia 10...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💻 Apéndice T1 • Técnico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⏱️ Apéndice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Arquitectura General &amp; Resiliencia Offline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gestion_terre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Diseño desacoplado, persistencia transaccional y consultas espaciales de alta performance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📡 Resiliencia en Ambientes Rurales Sin Conectividad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Patrón Clean Architecture y MVVM en Android Kotlin, persistencia Room, WorkManager, FastAPI y PostgreSQL con PostGIS.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Room + UUID Local: Generación de UUIDs en cliente y persistencia previa con estado PENDIENTE_ENVIO antes de intentar la red.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WorkManager Sync: Gestión de reintentos exponenciales garantizando que no se dupliquen reportes ni se pierdan datos.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FastAPI Asíncrono: Procesamiento concurrente no bloqueante capaz de manejar miles de peticiones simultáneas con bajo consumo.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PostGIS ST_DWithin: Búsqueda espacial indexada sobre coordenadas esféricas para calcular el radio comunitario en menos de 5 ms.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Arquitectura técnica: Clean Architecture y MVVM en Kotlin con Jetpack Compose. Para tolerar la falta de conectividad usamos Room SQLite con 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🤖 Apéndice T2 • Técnico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⏱️ Apéndice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Modelo de Machine Learning para Biofix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nuevo_rep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Predicción bioclimática temprana y aprendizaje activo supervisado por el usuario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🧠 Anticipación a la Detección Ocular Humana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Vector de features climáticas: medias móviles térmicas a 7, 15 y 30 días, anomalías invernales Tmin &gt; 15°C y fotoperíodo.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Algoritmo Predictivo: Ensamble de Gradient Boosted Trees (XGBoost / LightGBM) calibrado con datos meteorológicos históricos.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Detección Inviernos Cálidos: Identificación de inviernos benignos que evitan la mortandad por heladas de la chicharrita del maíz.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Bucle Activo de Feedback: Cada confirmación o corrección del agrónomo genera un registro FeedbackPrediccion para reentrenar pesos.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Humano en el Centro: La IA emite una recomendación probabilística; la decisión de inicio del ciclo recae siempre en el profesional.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¿Cómo funciona el modelo de ML para el Biofix? Toma como features series térmicas de 60 días, anomalías de mínimas invernales, precipitacion...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⚙️ Apéndice T3 • Técnico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⏱️ Apéndice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Pipeline del Job Diario &amp; Notificaciones FCM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alertas_comunita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Automatización batch nocturna, integración meteorológica y despacho masivo push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🌙 Eficiencia Energética y de Red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El procesamiento pesado ocurre en el servidor durante la noche. El teléfono del productor no consume batería calculando integrales térmicas.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Consultas Asíncronas: Llamadas concurrentes con httpx.AsyncClient para descargar datos meteorológicos en paralelo en segundos.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Deduplicación GPS: Si varios lotes comparten la misma estación meteorológica, se realiza una única petición a la API externa.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Firebase Cloud Messaging: Tokens FCM registrados en backend. Despacho segmentado por lote y topics regionales de emergencia.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Cero Impacto Batería: La app despierta solo para renderizar la alerta, sin necesidad de correr servicios en background permanentes.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¿Cómo escala el recálculo diario si hay miles de lotes? A las 03:00 AM un scheduler batch en el backend ejecuta consultas concurrentes asínc...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🔒 Apéndice T4 • Técnico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B3428"/>
          </a:solidFill>
          <a:ln w="12700">
            <a:solidFill>
              <a:srgbClr val="5C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ADE6"/>
                </a:solidFill>
              </a:defRPr>
            </a:pPr>
            <a:r>
              <a:t>⏱️ Apéndice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8F5"/>
                </a:solidFill>
              </a:defRPr>
            </a:pPr>
            <a:r>
              <a:t>Geoprivacidad, Anonimización y Ley 25.326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mapa_georreferenci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926080" cy="6502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371600"/>
            <a:ext cx="7132320" cy="5029200"/>
          </a:xfrm>
          <a:prstGeom prst="roundRect">
            <a:avLst/>
          </a:prstGeom>
          <a:solidFill>
            <a:srgbClr val="14261D"/>
          </a:solidFill>
          <a:ln w="12700">
            <a:solidFill>
              <a:srgbClr val="28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CE698"/>
                </a:solidFill>
              </a:defRPr>
            </a:pPr>
            <a:r>
              <a:t>Protección de secretos comerciales y seguridad de datos en la red comunitaria</a:t>
            </a:r>
          </a:p>
          <a:p>
            <a:br/>
            <a:pPr>
              <a:defRPr sz="1300" b="1">
                <a:solidFill>
                  <a:srgbClr val="F2B23E"/>
                </a:solidFill>
              </a:defRPr>
            </a:pPr>
            <a:r>
              <a:t>🛡️ El Algoritmo de Perturbación Espacial (Buffer Difuso)</a:t>
            </a:r>
          </a:p>
          <a:p>
            <a:pPr>
              <a:defRPr sz="1100">
                <a:solidFill>
                  <a:srgbClr val="F3F8F5"/>
                </a:solidFill>
              </a:defRPr>
            </a:pPr>
            <a:r>
              <a:t>La comunidad se beneficia de la alerta temprana regional sin que ningún productor exponga la ubicación exacta de su potrero.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Coordenadas Segregadas: La geolocalización exacta del catastro vive únicamente en la cuenta privada del titular del lote.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Difusión Aleatoria: Para la alerta zonal, el backend aplica una dispersión radial aleatoria que impide la triangulación inversa.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Cumplimiento Ley 25.326: Garantía de confidencialidad de la información productiva y auditoría de accesos conforme a la ley.</a:t>
            </a:r>
          </a:p>
          <a:p>
            <a:pPr>
              <a:defRPr sz="1050">
                <a:solidFill>
                  <a:srgbClr val="9EBAAB"/>
                </a:solidFill>
              </a:defRPr>
            </a:pPr>
            <a:r>
              <a:t>• Derecho de Revocación: El productor puede revocar en cualquier momento el consentimiento de compartir datos con un solo clic.</a:t>
            </a:r>
          </a:p>
          <a:p>
            <a:br/>
            <a:pPr>
              <a:defRPr sz="1000" i="1">
                <a:solidFill>
                  <a:srgbClr val="5CE698"/>
                </a:solidFill>
              </a:defRPr>
            </a:pPr>
            <a:r>
              <a:t>🗣️ Qué decir al jurado: La privacidad en el agro es sagrada: nadie quiere que la competencia sepa qué plaga tiene en su campo. Cumplimos con la Ley 25.326. Implemen...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