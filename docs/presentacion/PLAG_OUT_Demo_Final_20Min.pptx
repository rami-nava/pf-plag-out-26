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Buenos días a todos. En la última campaña agrícola perdimos más de 2.000 millones de dólares en maíz por una sola plaga: la chicharrita. El problema de fondo es que el monitoreo tradicional llega tarde: cuando se detecta el daño foliar, pulverizar cuesta el doble y rinde la mitad. PLAG-OUT transforma este paradigma convirtiendo el celular en un copiloto fenológico predictivo. Nuestro lema es: 'La IA acota el riesgo, el campo confirma'. Pasemos directamente a ver el producto en funcionamiento.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'Mis Terrenos' el productor digitaliza sus campos. Noten las 114 ha administradas entre Buenos Aires y Jujuy. Cada lote tiene coordenadas GPS exactas porque el insecto no vive en un promedio: necesita la temperatura real del potrero. La etiqueta '1 esperando biofix' avisa qué potrero necesita marcar el punto cero. Todo funciona offline sin depender de señal 4G gracias a la persistencia con Room SQLite.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'Mis Monitoreos' seguimos la soja bajo ataque de Oruga de las leguminosas. Fijamos el Biofix como punto cero y el motor suma Grados Día automáticamente con la temperatura local. No contamos días de almanaque: medimos el desarrollo fisiológico real de la larva con modelos validados por el INTA. Al cruzar los 420 GDD, el sistema dispara la alerta para actuar a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plagas no respetan alambrados. En Reportes creamos una Defensa en Anillo de 20 km: la app avisa que a 8.3 km hay un foco de Chinche de la alfalfa. Sin salir al lote, el productor ya sabe qué potrero priorizar en su recorrida semanal. Los reportes son colaborativos y anónimos, protegiendo la identidad del establecimiento.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mapa interactivo georreferencia los focos. Vemos un cluster rojo de 11 reportes activos y la posición de nuestros lotes. Esto permite a agrónomos que recorren miles de hectáreas planificar rutas y anticipar corredores biológicos antes de que afecten el campo.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los Tableros de Control pasamos a la gestión gerencial. El semáforo muestra 58 ha bajo seguimiento y la Prioridad de Acción ordena visitar primero la soja de 87 días con oruga moderada, ahorrando horas de planificación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solapa responde cuándo aplicar. Miren la curva de eficacia: pulverizar temprano tiene solo 10% de eficacia; tarde es tratar larvas gigantes. La app muestra el cartel 'INCUBACIÓN: No pulverizar aún'. Ese aviso evita gastar miles de dólares por lote y avisa con precisión cuándo entra en la ventana óptima L1-L3 con 90% de eficacia.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solapa Campañas consolida la historia: detecta que en 2026/27 la plaga predominante fue Anticarsia con 50% de incidencia. Esto le da al gerente agronómico datos objetivos para rotar modos de acción y comprar insumos anticipados con descuento.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cerrar: PLAG-OUT anticipa donde otros solo reaccionan post-daño. Ahorra un 25% en aplicaciones, brinda 7 a 14 días de anticipación y digitaliza el campo con ciencia argentina. Muchas gracias y el equipo queda a completa disposición para responder las preguntas de la mesa evaluadora.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5CE698"/>
                </a:solidFill>
              </a:defRPr>
            </a:pPr>
            <a:r>
              <a:t>PLAG-OUT</a:t>
            </a:r>
          </a:p>
          <a:p>
            <a:pPr algn="ctr">
              <a:defRPr sz="2200" b="1">
                <a:solidFill>
                  <a:srgbClr val="F3F8F5"/>
                </a:solidFill>
              </a:defRPr>
            </a:pPr>
            <a:r>
              <a:t>Monitoreo inteligente de plagas para el campo argentino</a:t>
            </a:r>
          </a:p>
          <a:p>
            <a:pPr algn="ctr">
              <a:defRPr sz="1400">
                <a:solidFill>
                  <a:srgbClr val="9EBAAB"/>
                </a:solidFill>
              </a:defRPr>
            </a:pPr>
            <a:r>
              <a:t>Trabajo Final de Grado • UTN FRBA 2026 | Demo Oficial (20 Minutos)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743200"/>
            <a:ext cx="4754880" cy="2560320"/>
          </a:xfrm>
          <a:prstGeom prst="roundRect">
            <a:avLst/>
          </a:prstGeom>
          <a:solidFill>
            <a:srgbClr val="14261D"/>
          </a:solidFill>
          <a:ln w="2540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E85D5D"/>
                </a:solidFill>
              </a:defRPr>
            </a:pPr>
            <a:r>
              <a:t>⚠️ EL DOLOR DEL SECTOR: LLEGAR TARDE</a:t>
            </a:r>
          </a:p>
          <a:p>
            <a:pPr>
              <a:defRPr sz="2800" b="1">
                <a:solidFill>
                  <a:srgbClr val="F2B23E"/>
                </a:solidFill>
              </a:defRPr>
            </a:pPr>
            <a:r>
              <a:t>-USD 2.000.000.000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En la campaña 23/24, la producción de maíz cayó de 59 a 47,5 M de toneladas por Chicharrita (Dalbulus maidis).</a:t>
            </a:r>
            <a:br/>
            <a:r>
              <a:t>• Pérdidas anuales en Argentina superan los USD 2.500M.</a:t>
            </a:r>
            <a:br/>
            <a:r>
              <a:t>• El monitoreo en papel detecta la plaga cuando el daño ya ocurrió y pulverizar cuesta el doble.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743200"/>
            <a:ext cx="4754880" cy="2560320"/>
          </a:xfrm>
          <a:prstGeom prst="roundRect">
            <a:avLst/>
          </a:prstGeom>
          <a:solidFill>
            <a:srgbClr val="14261D"/>
          </a:solidFill>
          <a:ln w="25400">
            <a:solidFill>
              <a:srgbClr val="5CE6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5CE698"/>
                </a:solidFill>
              </a:defRPr>
            </a:pPr>
            <a:r>
              <a:t>💡 LA SOLUCIÓN: COPILOTO FENOLÓGICO</a:t>
            </a:r>
          </a:p>
          <a:p>
            <a:pPr>
              <a:defRPr sz="2400" b="1">
                <a:solidFill>
                  <a:srgbClr val="F3F8F5"/>
                </a:solidFill>
              </a:defRPr>
            </a:pPr>
            <a:r>
              <a:t>Anticipación Científica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Reloj Térmico (GDD): Sincronización bioclimática con temperaturas reales locales.</a:t>
            </a:r>
            <a:br/>
            <a:r>
              <a:t>• Red Comunitaria: Alerta temprana colaborativa en un radio de 20 km.</a:t>
            </a:r>
            <a:br/>
            <a:r>
              <a:t>• Tableros de Decisión: Semáforo de superficie y Ventana Óptima L1-L3.</a:t>
            </a:r>
            <a:br/>
            <a:br/>
            <a:r>
              <a:t>👉 Mantra: 'La IA acota el riesgo. El campo confirma.'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577840"/>
            <a:ext cx="9966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3F8F5"/>
                </a:solidFill>
              </a:defRPr>
            </a:pPr>
            <a:r>
              <a:t>Equipo: Diego Hernández Canetti • Avril Martina López • Ramiro Navarro • Nicolás Ariel Conde • Brisabed Alexandra Marchan Figuera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1B3428"/>
          </a:solidFill>
          <a:ln w="12700">
            <a:solidFill>
              <a:srgbClr val="F2B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2B23E"/>
                </a:solidFill>
              </a:defRPr>
            </a:pPr>
            <a:r>
              <a:t>📍 Módulo 1 • Estructura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320040"/>
          </a:xfrm>
          <a:prstGeom prst="roundRect">
            <a:avLst/>
          </a:prstGeom>
          <a:solidFill>
            <a:srgbClr val="1B3428"/>
          </a:solidFill>
          <a:ln w="12700">
            <a:solidFill>
              <a:srgbClr val="F2B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2B23E"/>
                </a:solidFill>
              </a:defRPr>
            </a:pPr>
            <a:r>
              <a:t>⏱️ 02:00 - 05:30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3F8F5"/>
                </a:solidFill>
              </a:defRPr>
            </a:pPr>
            <a:r>
              <a:t>Tu Campo, Ordenado y Vivo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91840" cy="5029200"/>
          </a:xfrm>
          <a:prstGeom prst="roundRect">
            <a:avLst/>
          </a:prstGeom>
          <a:solidFill>
            <a:srgbClr val="14261D"/>
          </a:solidFill>
          <a:ln w="12700"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gestion_terren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08760"/>
            <a:ext cx="2926080" cy="6502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297680" y="1371600"/>
            <a:ext cx="7132320" cy="5029200"/>
          </a:xfrm>
          <a:prstGeom prst="roundRect">
            <a:avLst/>
          </a:prstGeom>
          <a:solidFill>
            <a:srgbClr val="14261D"/>
          </a:solidFill>
          <a:ln w="12700"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5CE698"/>
                </a:solidFill>
              </a:defRPr>
            </a:pPr>
            <a:r>
              <a:t>Digitalización territorial con vínculo bioclimático local</a:t>
            </a:r>
          </a:p>
          <a:p>
            <a:br/>
            <a:pPr>
              <a:defRPr sz="1300" b="1">
                <a:solidFill>
                  <a:srgbClr val="F2B23E"/>
                </a:solidFill>
              </a:defRPr>
            </a:pPr>
            <a:r>
              <a:t>🛰️ ¿Por qué georreferenciar cada lote?</a:t>
            </a:r>
          </a:p>
          <a:p>
            <a:pPr>
              <a:defRPr sz="1100">
                <a:solidFill>
                  <a:srgbClr val="F3F8F5"/>
                </a:solidFill>
              </a:defRPr>
            </a:pPr>
            <a:r>
              <a:t>Los insectos no responden al promedio provincial: su tasa biológica depende del microclima local. Al registrar las coordenadas GPS exactas, PLAG-OUT consulta la estación meteorológica más cercana para alimentar el motor de Grados Día.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Superficie Administrada: 114 ha consolidadas entre Buenos Aires (58 ha) y Jujuy.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Estado '1 esperando biofix': Avisa qué potrero requiere marcar el hito biológico cero.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Arquitectura Offline-First: Consulta y carga en zonas rurales sin 4G mediante base de datos Room SQLite local.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Gestión de Cultivos: Registro discriminado de variedades implantadas por potrero.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1B3428"/>
          </a:solidFill>
          <a:ln w="12700">
            <a:solidFill>
              <a:srgbClr val="F2B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2B23E"/>
                </a:solidFill>
              </a:defRPr>
            </a:pPr>
            <a:r>
              <a:t>🐛 Módulo 2 • Biología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320040"/>
          </a:xfrm>
          <a:prstGeom prst="roundRect">
            <a:avLst/>
          </a:prstGeom>
          <a:solidFill>
            <a:srgbClr val="1B3428"/>
          </a:solidFill>
          <a:ln w="12700">
            <a:solidFill>
              <a:srgbClr val="F2B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2B23E"/>
                </a:solidFill>
              </a:defRPr>
            </a:pPr>
            <a:r>
              <a:t>⏱️ 05:30 - 09:30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3F8F5"/>
                </a:solidFill>
              </a:defRPr>
            </a:pPr>
            <a:r>
              <a:t>Precisión Lote por Lote: El Reloj Térmico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91840" cy="5029200"/>
          </a:xfrm>
          <a:prstGeom prst="roundRect">
            <a:avLst/>
          </a:prstGeom>
          <a:solidFill>
            <a:srgbClr val="14261D"/>
          </a:solidFill>
          <a:ln w="12700"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monitoreo_cultiv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08760"/>
            <a:ext cx="2926080" cy="6502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297680" y="1371600"/>
            <a:ext cx="7132320" cy="5029200"/>
          </a:xfrm>
          <a:prstGeom prst="roundRect">
            <a:avLst/>
          </a:prstGeom>
          <a:solidFill>
            <a:srgbClr val="14261D"/>
          </a:solidFill>
          <a:ln w="12700"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5CE698"/>
                </a:solidFill>
              </a:defRPr>
            </a:pPr>
            <a:r>
              <a:t>Fisiología del insecto e integral térmica en tiempo real</a:t>
            </a:r>
          </a:p>
          <a:p>
            <a:br/>
            <a:pPr>
              <a:defRPr sz="1300" b="1">
                <a:solidFill>
                  <a:srgbClr val="F2B23E"/>
                </a:solidFill>
              </a:defRPr>
            </a:pPr>
            <a:r>
              <a:t>🔬 Fundamento Científico: Ciclo Biológico y GDD</a:t>
            </a:r>
          </a:p>
          <a:p>
            <a:pPr>
              <a:defRPr sz="1100">
                <a:solidFill>
                  <a:srgbClr val="F3F8F5"/>
                </a:solidFill>
              </a:defRPr>
            </a:pPr>
            <a:r>
              <a:t>El desarrollo del insecto no sigue el calendario, sino la acumulación térmica diaria por encima de la temperatura base (Tb):</a:t>
            </a:r>
            <a:br/>
            <a:br/>
            <a:r>
              <a:t>Fórmula GDD: GDD = ((T_max + T_min) / 2) - T_base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Biofix (El Punto Cero): Fecha de primera captura en trampa de luz o avistamiento (ej: 03 sept).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Calibración INTA Argentina: Para Anticarsia gemmatalis en soja, Tb = 10°C y 420 GDD de eclosión.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Cruce del Umbral: Cuando la curva acumulada cruza 420 GDD, se predice la eclosión exacta.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Semáforo Operativo: Clasificación de lotes en bajo control, moderado o alerta crítica.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1B3428"/>
          </a:solidFill>
          <a:ln w="12700">
            <a:solidFill>
              <a:srgbClr val="F2B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2B23E"/>
                </a:solidFill>
              </a:defRPr>
            </a:pPr>
            <a:r>
              <a:t>📡 Módulo 3 • Red Colaborativa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320040"/>
          </a:xfrm>
          <a:prstGeom prst="roundRect">
            <a:avLst/>
          </a:prstGeom>
          <a:solidFill>
            <a:srgbClr val="1B3428"/>
          </a:solidFill>
          <a:ln w="12700">
            <a:solidFill>
              <a:srgbClr val="F2B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2B23E"/>
                </a:solidFill>
              </a:defRPr>
            </a:pPr>
            <a:r>
              <a:t>⏱️ 09:30 - 11:30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3F8F5"/>
                </a:solidFill>
              </a:defRPr>
            </a:pPr>
            <a:r>
              <a:t>'Lo Que Ve Tu Vecino Te Sirve'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91840" cy="5029200"/>
          </a:xfrm>
          <a:prstGeom prst="roundRect">
            <a:avLst/>
          </a:prstGeom>
          <a:solidFill>
            <a:srgbClr val="14261D"/>
          </a:solidFill>
          <a:ln w="12700"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alertas_comunitar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08760"/>
            <a:ext cx="2926080" cy="6502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297680" y="1371600"/>
            <a:ext cx="7132320" cy="5029200"/>
          </a:xfrm>
          <a:prstGeom prst="roundRect">
            <a:avLst/>
          </a:prstGeom>
          <a:solidFill>
            <a:srgbClr val="14261D"/>
          </a:solidFill>
          <a:ln w="12700"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5CE698"/>
                </a:solidFill>
              </a:defRPr>
            </a:pPr>
            <a:r>
              <a:t>Detección temprana comunitaria y defensa perimetral</a:t>
            </a:r>
          </a:p>
          <a:p>
            <a:br/>
            <a:pPr>
              <a:defRPr sz="1300" b="1">
                <a:solidFill>
                  <a:srgbClr val="F2B23E"/>
                </a:solidFill>
              </a:defRPr>
            </a:pPr>
            <a:r>
              <a:t>🛡️ El Concepto de 'Defensa en Anillo' (20 km)</a:t>
            </a:r>
          </a:p>
          <a:p>
            <a:pPr>
              <a:defRPr sz="1100">
                <a:solidFill>
                  <a:srgbClr val="F3F8F5"/>
                </a:solidFill>
              </a:defRPr>
            </a:pPr>
            <a:r>
              <a:t>Las plagas no conocen alambrados ni límites catastrales. PLAG-OUT crea un anillo de vigilancia espacial alrededor de los lotes propios que alerta sobre focos en avance.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Alerta Destacada: 'Chinche de la alfalfa - A 8.3 km de tus terrenos'.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Efecto de Red Agronómico: +Usuarios ➔ +Reportes ➔ +Datos de campo ➔ Alertas más precisas.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Privacidad Garantizada: Cumplimiento de Ley 25.326: reportes 100% anonimizados por radio geográfico.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Planificación Proactiva: Permite inspeccionar el potrero antes de que la plaga cruce el alambrado.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1B3428"/>
          </a:solidFill>
          <a:ln w="12700">
            <a:solidFill>
              <a:srgbClr val="F2B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2B23E"/>
                </a:solidFill>
              </a:defRPr>
            </a:pPr>
            <a:r>
              <a:t>🗺️ Módulo 4 • Espacio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320040"/>
          </a:xfrm>
          <a:prstGeom prst="roundRect">
            <a:avLst/>
          </a:prstGeom>
          <a:solidFill>
            <a:srgbClr val="1B3428"/>
          </a:solidFill>
          <a:ln w="12700">
            <a:solidFill>
              <a:srgbClr val="F2B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2B23E"/>
                </a:solidFill>
              </a:defRPr>
            </a:pPr>
            <a:r>
              <a:t>⏱️ 11:30 - 13:30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3F8F5"/>
                </a:solidFill>
              </a:defRPr>
            </a:pPr>
            <a:r>
              <a:t>Mapa de Presión y Densidad por Zona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91840" cy="5029200"/>
          </a:xfrm>
          <a:prstGeom prst="roundRect">
            <a:avLst/>
          </a:prstGeom>
          <a:solidFill>
            <a:srgbClr val="14261D"/>
          </a:solidFill>
          <a:ln w="12700"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mapa_georreferenci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08760"/>
            <a:ext cx="2926080" cy="6502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297680" y="1371600"/>
            <a:ext cx="7132320" cy="5029200"/>
          </a:xfrm>
          <a:prstGeom prst="roundRect">
            <a:avLst/>
          </a:prstGeom>
          <a:solidFill>
            <a:srgbClr val="14261D"/>
          </a:solidFill>
          <a:ln w="12700"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5CE698"/>
                </a:solidFill>
              </a:defRPr>
            </a:pPr>
            <a:r>
              <a:t>Clusterización espacial de focos sobre OpenStreetMap</a:t>
            </a:r>
          </a:p>
          <a:p>
            <a:br/>
            <a:pPr>
              <a:defRPr sz="1300" b="1">
                <a:solidFill>
                  <a:srgbClr val="F2B23E"/>
                </a:solidFill>
              </a:defRPr>
            </a:pPr>
            <a:r>
              <a:t>🧭 Inteligencia Geoespacial a Campo</a:t>
            </a:r>
          </a:p>
          <a:p>
            <a:pPr>
              <a:defRPr sz="1100">
                <a:solidFill>
                  <a:srgbClr val="F3F8F5"/>
                </a:solidFill>
              </a:defRPr>
            </a:pPr>
            <a:r>
              <a:t>Lectura visual espacial completa para asesores técnicos y administradores que gestionan campos distribuidos en varias zonas productivas.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Clustering Inteligente: Nodo crítico rojo agrupando 11 reportes activos en la región central.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Ubicación de Lotes Propios: Señalizado con el ícono de casa para medir distancias relativas de avance.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Vistas Duales: Conmutación instantánea entre Puntos individuales y Mapa de Calor (Heatmap).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Corredores Biológicos: Identificación visual de vectores de avance empujados por vientos y clima.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1B3428"/>
          </a:solidFill>
          <a:ln w="12700">
            <a:solidFill>
              <a:srgbClr val="F2B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2B23E"/>
                </a:solidFill>
              </a:defRPr>
            </a:pPr>
            <a:r>
              <a:t>📊 Tableros de Control • Lotes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320040"/>
          </a:xfrm>
          <a:prstGeom prst="roundRect">
            <a:avLst/>
          </a:prstGeom>
          <a:solidFill>
            <a:srgbClr val="1B3428"/>
          </a:solidFill>
          <a:ln w="12700">
            <a:solidFill>
              <a:srgbClr val="F2B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2B23E"/>
                </a:solidFill>
              </a:defRPr>
            </a:pPr>
            <a:r>
              <a:t>⏱️ 13:30 - 15:00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3F8F5"/>
                </a:solidFill>
              </a:defRPr>
            </a:pPr>
            <a:r>
              <a:t>Semáforo de Superficie en Riesgo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91840" cy="5029200"/>
          </a:xfrm>
          <a:prstGeom prst="roundRect">
            <a:avLst/>
          </a:prstGeom>
          <a:solidFill>
            <a:srgbClr val="14261D"/>
          </a:solidFill>
          <a:ln w="12700"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tablero_l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08760"/>
            <a:ext cx="2926080" cy="6502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297680" y="1371600"/>
            <a:ext cx="7132320" cy="5029200"/>
          </a:xfrm>
          <a:prstGeom prst="roundRect">
            <a:avLst/>
          </a:prstGeom>
          <a:solidFill>
            <a:srgbClr val="14261D"/>
          </a:solidFill>
          <a:ln w="12700"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5CE698"/>
                </a:solidFill>
              </a:defRPr>
            </a:pPr>
            <a:r>
              <a:t>Priorización algorítmica por hectáreas y días desde siembra</a:t>
            </a:r>
          </a:p>
          <a:p>
            <a:br/>
            <a:pPr>
              <a:defRPr sz="1300" b="1">
                <a:solidFill>
                  <a:srgbClr val="F2B23E"/>
                </a:solidFill>
              </a:defRPr>
            </a:pPr>
            <a:r>
              <a:t>🚜 De Datos a Acciones Ejecutivas</a:t>
            </a:r>
          </a:p>
          <a:p>
            <a:pPr>
              <a:defRPr sz="1100">
                <a:solidFill>
                  <a:srgbClr val="F3F8F5"/>
                </a:solidFill>
              </a:defRPr>
            </a:pPr>
            <a:r>
              <a:t>En lugar de planillas interminables, el tablero resume la superficie productiva afectada y organiza el plan de trabajo diario.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Semáforo de Superficie: 58 ha bajo seguimiento: discrimina área bajo control vs alerta crítica.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Prioridad de Acción: Ordena de forma algorítmica qué potrero visitar primero según urgencia.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Días desde la Siembra: 'Soja (87 días)': correlaciona la edad con la etapa reproductiva (R3-R5).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Control Poblacional: Indicador de supresión de plagas y prevención de reinfestaciones.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1B3428"/>
          </a:solidFill>
          <a:ln w="12700">
            <a:solidFill>
              <a:srgbClr val="F2B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2B23E"/>
                </a:solidFill>
              </a:defRPr>
            </a:pPr>
            <a:r>
              <a:t>🎯 Tableros de Control • Control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320040"/>
          </a:xfrm>
          <a:prstGeom prst="roundRect">
            <a:avLst/>
          </a:prstGeom>
          <a:solidFill>
            <a:srgbClr val="1B3428"/>
          </a:solidFill>
          <a:ln w="12700">
            <a:solidFill>
              <a:srgbClr val="F2B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2B23E"/>
                </a:solidFill>
              </a:defRPr>
            </a:pPr>
            <a:r>
              <a:t>⏱️ 15:00 - 16:30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3F8F5"/>
                </a:solidFill>
              </a:defRPr>
            </a:pPr>
            <a:r>
              <a:t>Ventana Óptima de Aplicación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91840" cy="5029200"/>
          </a:xfrm>
          <a:prstGeom prst="roundRect">
            <a:avLst/>
          </a:prstGeom>
          <a:solidFill>
            <a:srgbClr val="14261D"/>
          </a:solidFill>
          <a:ln w="12700"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tablero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08760"/>
            <a:ext cx="2926080" cy="6502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297680" y="1371600"/>
            <a:ext cx="7132320" cy="5029200"/>
          </a:xfrm>
          <a:prstGeom prst="roundRect">
            <a:avLst/>
          </a:prstGeom>
          <a:solidFill>
            <a:srgbClr val="14261D"/>
          </a:solidFill>
          <a:ln w="12700"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5CE698"/>
                </a:solidFill>
              </a:defRPr>
            </a:pPr>
            <a:r>
              <a:t>Sincronización fenológica para no errar el tratamiento</a:t>
            </a:r>
          </a:p>
          <a:p>
            <a:br/>
            <a:pPr>
              <a:defRPr sz="1300" b="1">
                <a:solidFill>
                  <a:srgbClr val="F2B23E"/>
                </a:solidFill>
              </a:defRPr>
            </a:pPr>
            <a:r>
              <a:t>📉 La Curva de Eficacia: 'Errar la ventana se paga caro'</a:t>
            </a:r>
          </a:p>
          <a:p>
            <a:pPr>
              <a:defRPr sz="1100">
                <a:solidFill>
                  <a:srgbClr val="F3F8F5"/>
                </a:solidFill>
              </a:defRPr>
            </a:pPr>
            <a:r>
              <a:t>1. Temprana (-12 a -6d): Eficacia 10-20%. Plaga en huevo, el químico se lava.</a:t>
            </a:r>
            <a:br/>
            <a:r>
              <a:t>2. Ventana Útil (Eclosión a +3d, L1-L3): Eficacia 90%. Máxima susceptibilidad.</a:t>
            </a:r>
            <a:br/>
            <a:r>
              <a:t>3. Tardía (+6 a +12d): Eficacia 10-30%. Larva grande, daño ya consumado.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Cartel Disuasorio Real: Badge 'INCUBACIÓN (ESPERA) - No pulverizar aún'. Evita gastar en huevos.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Ahorro Directo: Ahorra entre USD 15 y 30 por hectárea evitando aplicaciones prematuras inútiles.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Eficacia Auditada: Tasa del 100% en tratamientos que controlaron la población sin reinfestación.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Sostenibilidad: Reduce la carga de agroquímicos y protege insectos benéficos.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1B3428"/>
          </a:solidFill>
          <a:ln w="12700">
            <a:solidFill>
              <a:srgbClr val="F2B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2B23E"/>
                </a:solidFill>
              </a:defRPr>
            </a:pPr>
            <a:r>
              <a:t>📈 Tableros de Control • Campañas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320040"/>
          </a:xfrm>
          <a:prstGeom prst="roundRect">
            <a:avLst/>
          </a:prstGeom>
          <a:solidFill>
            <a:srgbClr val="1B3428"/>
          </a:solidFill>
          <a:ln w="12700">
            <a:solidFill>
              <a:srgbClr val="F2B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2B23E"/>
                </a:solidFill>
              </a:defRPr>
            </a:pPr>
            <a:r>
              <a:t>⏱️ 16:30 - 17:30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3F8F5"/>
                </a:solidFill>
              </a:defRPr>
            </a:pPr>
            <a:r>
              <a:t>Histórico Consolidado y Prevalencia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91840" cy="5029200"/>
          </a:xfrm>
          <a:prstGeom prst="roundRect">
            <a:avLst/>
          </a:prstGeom>
          <a:solidFill>
            <a:srgbClr val="14261D"/>
          </a:solidFill>
          <a:ln w="12700"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_tablero_campa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08760"/>
            <a:ext cx="2926080" cy="6502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297680" y="1371600"/>
            <a:ext cx="7132320" cy="5029200"/>
          </a:xfrm>
          <a:prstGeom prst="roundRect">
            <a:avLst/>
          </a:prstGeom>
          <a:solidFill>
            <a:srgbClr val="14261D"/>
          </a:solidFill>
          <a:ln w="12700"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5CE698"/>
                </a:solidFill>
              </a:defRPr>
            </a:pPr>
            <a:r>
              <a:t>Inteligencia histórica interanual y rotación de insumos</a:t>
            </a:r>
          </a:p>
          <a:p>
            <a:br/>
            <a:pPr>
              <a:defRPr sz="1300" b="1">
                <a:solidFill>
                  <a:srgbClr val="F2B23E"/>
                </a:solidFill>
              </a:defRPr>
            </a:pPr>
            <a:r>
              <a:t>🌾 Trazabilidad Estratégica Interanual</a:t>
            </a:r>
          </a:p>
          <a:p>
            <a:pPr>
              <a:defRPr sz="1100">
                <a:solidFill>
                  <a:srgbClr val="F3F8F5"/>
                </a:solidFill>
              </a:defRPr>
            </a:pPr>
            <a:r>
              <a:t>Auditoría histórica multicampaña (ciclos 2026/27, 2025, 2024...) para la toma de decisiones gerenciales y compras anticipadas.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Plaga Predominante: Cálculo autónomo: Oruga de las leguminosas (50% de incidencia).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Prevalencia Comparativa: Gráfico de barras comparando Oruga vs Chicharrita del maíz.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Planificación IRAC: Base de datos para rotar modos de acción y evitar resistencia biológica.</a:t>
            </a:r>
          </a:p>
          <a:p>
            <a:pPr>
              <a:defRPr sz="1100">
                <a:solidFill>
                  <a:srgbClr val="9EBAAB"/>
                </a:solidFill>
              </a:defRPr>
            </a:pPr>
            <a:r>
              <a:t>• Compras Estratégicas: Negociación de insumos con meses de anticipación con precios de pre-campaña.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1B3428"/>
          </a:solidFill>
          <a:ln w="12700">
            <a:solidFill>
              <a:srgbClr val="F2B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2B23E"/>
                </a:solidFill>
              </a:defRPr>
            </a:pPr>
            <a:r>
              <a:t>🏆 Retorno &amp; Cierre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65760"/>
            <a:ext cx="1828800" cy="320040"/>
          </a:xfrm>
          <a:prstGeom prst="roundRect">
            <a:avLst/>
          </a:prstGeom>
          <a:solidFill>
            <a:srgbClr val="1B3428"/>
          </a:solidFill>
          <a:ln w="12700">
            <a:solidFill>
              <a:srgbClr val="F2B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2B23E"/>
                </a:solidFill>
              </a:defRPr>
            </a:pPr>
            <a:r>
              <a:t>⏱️ 17:30 - 20:00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3F8F5"/>
                </a:solidFill>
              </a:defRPr>
            </a:pPr>
            <a:r>
              <a:t>PLAG-OUT: Nosotros Anticipamos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2011680"/>
          </a:xfrm>
          <a:prstGeom prst="roundRect">
            <a:avLst/>
          </a:prstGeom>
          <a:solidFill>
            <a:srgbClr val="14261D"/>
          </a:solidFill>
          <a:ln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2B23E"/>
                </a:solidFill>
              </a:defRPr>
            </a:pPr>
            <a:r>
              <a:t>Menos</a:t>
            </a:r>
          </a:p>
          <a:p>
            <a:pPr algn="ctr">
              <a:defRPr sz="1300" b="1">
                <a:solidFill>
                  <a:srgbClr val="F3F8F5"/>
                </a:solidFill>
              </a:defRPr>
            </a:pPr>
            <a:r>
              <a:t>Aplicaciones</a:t>
            </a:r>
          </a:p>
          <a:p>
            <a:pPr algn="ctr">
              <a:defRPr sz="1000">
                <a:solidFill>
                  <a:srgbClr val="9EBAAB"/>
                </a:solidFill>
              </a:defRPr>
            </a:pPr>
            <a:r>
              <a:t>-25% en costos de fitosanitarios al no aplicar en estadios invulnerables.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383280" cy="2011680"/>
          </a:xfrm>
          <a:prstGeom prst="roundRect">
            <a:avLst/>
          </a:prstGeom>
          <a:solidFill>
            <a:srgbClr val="14261D"/>
          </a:solidFill>
          <a:ln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5CE698"/>
                </a:solidFill>
              </a:defRPr>
            </a:pPr>
            <a:r>
              <a:t>+7 a 14</a:t>
            </a:r>
          </a:p>
          <a:p>
            <a:pPr algn="ctr">
              <a:defRPr sz="1300" b="1">
                <a:solidFill>
                  <a:srgbClr val="F3F8F5"/>
                </a:solidFill>
              </a:defRPr>
            </a:pPr>
            <a:r>
              <a:t>Días Anticipación</a:t>
            </a:r>
          </a:p>
          <a:p>
            <a:pPr algn="ctr">
              <a:defRPr sz="1000">
                <a:solidFill>
                  <a:srgbClr val="9EBAAB"/>
                </a:solidFill>
              </a:defRPr>
            </a:pPr>
            <a:r>
              <a:t>Alerta bioclimática para coordinar contratistas y pulverizadoras sin urgencias.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463040"/>
            <a:ext cx="3383280" cy="2011680"/>
          </a:xfrm>
          <a:prstGeom prst="roundRect">
            <a:avLst/>
          </a:prstGeom>
          <a:solidFill>
            <a:srgbClr val="14261D"/>
          </a:solidFill>
          <a:ln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6EB7FF"/>
                </a:solidFill>
              </a:defRPr>
            </a:pPr>
            <a:r>
              <a:t>100%</a:t>
            </a:r>
          </a:p>
          <a:p>
            <a:pPr algn="ctr">
              <a:defRPr sz="1300" b="1">
                <a:solidFill>
                  <a:srgbClr val="F3F8F5"/>
                </a:solidFill>
              </a:defRPr>
            </a:pPr>
            <a:r>
              <a:t>Registro Trazable</a:t>
            </a:r>
          </a:p>
          <a:p>
            <a:pPr algn="ctr">
              <a:defRPr sz="1000">
                <a:solidFill>
                  <a:srgbClr val="9EBAAB"/>
                </a:solidFill>
              </a:defRPr>
            </a:pPr>
            <a:r>
              <a:t>Digitalización completa para certificar Buenas Prácticas Agrícolas (BPA).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57600"/>
            <a:ext cx="10607040" cy="2560320"/>
          </a:xfrm>
          <a:prstGeom prst="roundRect">
            <a:avLst/>
          </a:prstGeom>
          <a:solidFill>
            <a:srgbClr val="14261D"/>
          </a:solidFill>
          <a:ln>
            <a:solidFill>
              <a:srgbClr val="284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2B23E"/>
                </a:solidFill>
              </a:defRPr>
            </a:pPr>
            <a:r>
              <a:t>🎯 DIFERENCIACIÓN FRENTE AL MERCADO (xarvio, Auravant, FieldView):</a:t>
            </a:r>
          </a:p>
          <a:p>
            <a:pPr>
              <a:defRPr sz="1100">
                <a:solidFill>
                  <a:srgbClr val="F3F8F5"/>
                </a:solidFill>
              </a:defRPr>
            </a:pPr>
            <a:r>
              <a:t>• Detección Predictiva: Calculamos el estadio biológico por GDD antes de que el satélite vea la hoja comida.</a:t>
            </a:r>
            <a:br/>
            <a:r>
              <a:t>• Calibración Nacional: Modelos térmicos basados en ensayos del INTA y universidades argentinas.</a:t>
            </a:r>
            <a:br/>
            <a:r>
              <a:t>• Red Colaborativa: Monitoreo comunitario en anillo de 20 km anonimizado según Ley 25.326.</a:t>
            </a:r>
            <a:br/>
            <a:r>
              <a:t>• Roadmap: Prototipo validado al 25/11/2026 ➔ Pilotos a campo 26/27 en NOA/NEA ➔ Expansión 2028 (Brasil y Paraguay).</a:t>
            </a:r>
            <a:br/>
            <a:br/>
            <a:r>
              <a:t>✉️ Contacto: preguntas@plag-out.com.ar | ¡Muchas gracias y abrimos el espacio para preguntas!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